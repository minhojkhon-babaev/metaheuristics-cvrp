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</p:sldMasterIdLst>
  <p:notesMasterIdLst>
    <p:notesMasterId r:id="rId4"/>
  </p:notesMasterIdLst>
  <p:sldIdLst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y="6858000" cx="12192000"/>
  <p:notesSz cx="6858000" cy="9144000"/>
  <p:embeddedFontLst>
    <p:embeddedFont>
      <p:font typeface="Helvetica Neue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4" Type="http://schemas.openxmlformats.org/officeDocument/2006/relationships/font" Target="fonts/HelveticaNeue-regular.fntdata"/><Relationship Id="rId15" Type="http://schemas.openxmlformats.org/officeDocument/2006/relationships/font" Target="fonts/HelveticaNeue-bold.fntdata"/><Relationship Id="rId16" Type="http://schemas.openxmlformats.org/officeDocument/2006/relationships/font" Target="fonts/HelveticaNeue-italic.fntdata"/><Relationship Id="rId17" Type="http://schemas.openxmlformats.org/officeDocument/2006/relationships/font" Target="fonts/HelveticaNeue-boldItalic.fntdata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 showMasterSp="0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descr="Picture 9" id="52" name="Google Shape;52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13"/>
            <p:cNvSpPr/>
            <p:nvPr/>
          </p:nvSpPr>
          <p:spPr>
            <a:xfrm>
              <a:off x="766762" y="753175"/>
              <a:ext cx="10658400" cy="5339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32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Picture 28"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859" y="962172"/>
            <a:ext cx="886500" cy="886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3"/>
          <p:cNvCxnSpPr/>
          <p:nvPr/>
        </p:nvCxnSpPr>
        <p:spPr>
          <a:xfrm>
            <a:off x="6090212" y="962172"/>
            <a:ext cx="0" cy="84030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6" name="Google Shape;56;p13"/>
          <p:cNvCxnSpPr/>
          <p:nvPr/>
        </p:nvCxnSpPr>
        <p:spPr>
          <a:xfrm>
            <a:off x="8642580" y="962172"/>
            <a:ext cx="0" cy="84030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7" name="Google Shape;57;p13"/>
          <p:cNvCxnSpPr/>
          <p:nvPr/>
        </p:nvCxnSpPr>
        <p:spPr>
          <a:xfrm>
            <a:off x="11179046" y="962172"/>
            <a:ext cx="0" cy="84030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2130739" y="1112072"/>
            <a:ext cx="35814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2" type="body"/>
          </p:nvPr>
        </p:nvSpPr>
        <p:spPr>
          <a:xfrm>
            <a:off x="6239979" y="1112072"/>
            <a:ext cx="2252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3" type="body"/>
          </p:nvPr>
        </p:nvSpPr>
        <p:spPr>
          <a:xfrm>
            <a:off x="8796001" y="1112072"/>
            <a:ext cx="2252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4" type="body"/>
          </p:nvPr>
        </p:nvSpPr>
        <p:spPr>
          <a:xfrm>
            <a:off x="1014505" y="2284019"/>
            <a:ext cx="10163100" cy="19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5" type="body"/>
          </p:nvPr>
        </p:nvSpPr>
        <p:spPr>
          <a:xfrm>
            <a:off x="1014505" y="4747187"/>
            <a:ext cx="49980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11095176" y="6414760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66" name="Google Shape;66;p14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778240" y="6377940"/>
            <a:ext cx="2804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_2 copy" showMasterSp="0">
  <p:cSld name="Таблица_2 cop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-351154" y="-10861"/>
            <a:ext cx="13083600" cy="6879600"/>
          </a:xfrm>
          <a:prstGeom prst="rect">
            <a:avLst/>
          </a:prstGeom>
          <a:solidFill>
            <a:srgbClr val="172C6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1_Logo_HSE_full_rus_CMYK_for_dark_1.png" id="70" name="Google Shape;7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3362" y="2646362"/>
            <a:ext cx="1565147" cy="156514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11095176" y="6414760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2130739" y="1112072"/>
            <a:ext cx="3581410" cy="704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Московский институт электроники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и математики имени А.Н. Тихонова</a:t>
            </a:r>
            <a:endParaRPr/>
          </a:p>
        </p:txBody>
      </p:sp>
      <p:sp>
        <p:nvSpPr>
          <p:cNvPr id="77" name="Google Shape;77;p16"/>
          <p:cNvSpPr txBox="1"/>
          <p:nvPr>
            <p:ph idx="2" type="body"/>
          </p:nvPr>
        </p:nvSpPr>
        <p:spPr>
          <a:xfrm>
            <a:off x="6239979" y="1112072"/>
            <a:ext cx="2252835" cy="54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Методы оптимизации: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метаэвристики</a:t>
            </a:r>
            <a:endParaRPr/>
          </a:p>
        </p:txBody>
      </p:sp>
      <p:sp>
        <p:nvSpPr>
          <p:cNvPr id="78" name="Google Shape;78;p16"/>
          <p:cNvSpPr txBox="1"/>
          <p:nvPr>
            <p:ph idx="3" type="body"/>
          </p:nvPr>
        </p:nvSpPr>
        <p:spPr>
          <a:xfrm>
            <a:off x="8796001" y="1112072"/>
            <a:ext cx="2252835" cy="54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Москва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2026</a:t>
            </a:r>
            <a:endParaRPr/>
          </a:p>
        </p:txBody>
      </p:sp>
      <p:sp>
        <p:nvSpPr>
          <p:cNvPr id="79" name="Google Shape;79;p16"/>
          <p:cNvSpPr txBox="1"/>
          <p:nvPr>
            <p:ph idx="4" type="body"/>
          </p:nvPr>
        </p:nvSpPr>
        <p:spPr>
          <a:xfrm>
            <a:off x="1014505" y="2284019"/>
            <a:ext cx="10162990" cy="1981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3700"/>
              <a:buFont typeface="Helvetica Neue"/>
              <a:buNone/>
            </a:pPr>
            <a:r>
              <a:t>Метаэвристика ALNS для задачи маршрутизации</a:t>
            </a:r>
            <a:endParaRPr sz="3000">
              <a:solidFill>
                <a:srgbClr val="172C6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3700"/>
              <a:buFont typeface="Helvetica Neue"/>
              <a:buNone/>
            </a:pPr>
            <a:r>
              <a:t>транспорта с ограничениями грузоподъёмности:</a:t>
            </a:r>
            <a:endParaRPr sz="3000">
              <a:solidFill>
                <a:srgbClr val="172C6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3700"/>
              <a:buFont typeface="Helvetica Neue"/>
              <a:buNone/>
            </a:pPr>
            <a:r>
              <a:t>эксперимент на наборах E, F, M, P (CVRPLIB)</a:t>
            </a:r>
            <a:endParaRPr sz="3000">
              <a:solidFill>
                <a:srgbClr val="172C6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16"/>
          <p:cNvSpPr txBox="1"/>
          <p:nvPr>
            <p:ph idx="5" type="body"/>
          </p:nvPr>
        </p:nvSpPr>
        <p:spPr>
          <a:xfrm>
            <a:off x="1063350" y="4733200"/>
            <a:ext cx="49080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Выполнил: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Бабаев Минходжхон Зафарович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5" name="Google Shape;85;p17"/>
          <p:cNvSpPr txBox="1"/>
          <p:nvPr/>
        </p:nvSpPr>
        <p:spPr>
          <a:xfrm>
            <a:off x="500400" y="128864"/>
            <a:ext cx="109074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93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600">
                <a:solidFill>
                  <a:srgbClr val="0E2C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Задача, данные и метрика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500400" y="1198550"/>
            <a:ext cx="5238300" cy="2381100"/>
          </a:xfrm>
          <a:prstGeom prst="rect">
            <a:avLst/>
          </a:prstGeom>
          <a:solidFill>
            <a:srgbClr val="FFFFFF"/>
          </a:solidFill>
          <a:ln cap="flat" cmpd="sng" w="16525">
            <a:solidFill>
              <a:srgbClr val="D0DBE8"/>
            </a:solidFill>
            <a:prstDash val="solid"/>
            <a:round/>
            <a:headEnd len="sm" w="sm" type="none"/>
            <a:tailEnd len="sm" w="sm" type="none"/>
          </a:ln>
          <a:effectLst>
            <a:outerShdw blurRad="99211" rotWithShape="0" algn="bl" dir="8100000" dist="33070">
              <a:srgbClr val="000000">
                <a:alpha val="12160"/>
              </a:srgbClr>
            </a:outerShdw>
          </a:effectLst>
        </p:spPr>
        <p:txBody>
          <a:bodyPr anchorCtr="0" anchor="ctr" bIns="119025" lIns="119025" spcFirstLastPara="1" rIns="119025" wrap="square" tIns="119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500400" y="1198550"/>
            <a:ext cx="142800" cy="2381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119025" lIns="119025" spcFirstLastPara="1" rIns="119025" wrap="square" tIns="119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798034" y="1258077"/>
            <a:ext cx="46428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93"/>
              <a:buFont typeface="Calibri"/>
              <a:buNone/>
            </a:pPr>
            <a:r>
              <a:rPr b="1" i="0" lang="en-US" sz="1693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Задача (CVRP)</a:t>
            </a:r>
            <a:endParaRPr b="0" i="0" sz="16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798034" y="1793819"/>
            <a:ext cx="4642800" cy="16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46453" lvl="0" marL="446452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432"/>
              <a:buFont typeface="Calibri"/>
              <a:buChar char="•"/>
            </a:pPr>
            <a:r>
              <a:rPr b="0" i="0" lang="en-US" sz="1432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Депо, n клиентов со спросом, однотипные машины вместимости Q</a:t>
            </a:r>
            <a:endParaRPr b="0" i="0" sz="14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6453" lvl="0" marL="446452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432"/>
              <a:buFont typeface="Calibri"/>
              <a:buChar char="•"/>
            </a:pPr>
            <a:r>
              <a:rPr b="0" i="0" lang="en-US" sz="1432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Каждый клиент обслужен ровно один раз, загрузка маршрута ≤ Q</a:t>
            </a:r>
            <a:endParaRPr b="0" i="0" sz="14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6453" lvl="0" marL="446452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432"/>
              <a:buFont typeface="Calibri"/>
              <a:buChar char="•"/>
            </a:pPr>
            <a:r>
              <a:rPr b="0" i="0" lang="en-US" sz="1432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Минимизируется суммарная длина; число машин равно k из имени инстанса</a:t>
            </a:r>
            <a:endParaRPr b="0" i="0" sz="14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6453" lvl="0" marL="446452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432"/>
              <a:buFont typeface="Calibri"/>
              <a:buChar char="•"/>
            </a:pPr>
            <a:r>
              <a:rPr b="0" i="0" lang="en-US" sz="1432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NP-трудная задача — нужен метаэвристический подход</a:t>
            </a:r>
            <a:endParaRPr b="0" i="0" sz="14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6453083" y="1198550"/>
            <a:ext cx="5238300" cy="2381100"/>
          </a:xfrm>
          <a:prstGeom prst="rect">
            <a:avLst/>
          </a:prstGeom>
          <a:solidFill>
            <a:srgbClr val="FFFFFF"/>
          </a:solidFill>
          <a:ln cap="flat" cmpd="sng" w="16525">
            <a:solidFill>
              <a:srgbClr val="D0DBE8"/>
            </a:solidFill>
            <a:prstDash val="solid"/>
            <a:round/>
            <a:headEnd len="sm" w="sm" type="none"/>
            <a:tailEnd len="sm" w="sm" type="none"/>
          </a:ln>
          <a:effectLst>
            <a:outerShdw blurRad="99211" rotWithShape="0" algn="bl" dir="8100000" dist="33070">
              <a:srgbClr val="000000">
                <a:alpha val="12160"/>
              </a:srgbClr>
            </a:outerShdw>
          </a:effectLst>
        </p:spPr>
        <p:txBody>
          <a:bodyPr anchorCtr="0" anchor="ctr" bIns="119025" lIns="119025" spcFirstLastPara="1" rIns="119025" wrap="square" tIns="119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6453083" y="1198550"/>
            <a:ext cx="142800" cy="2381100"/>
          </a:xfrm>
          <a:prstGeom prst="rect">
            <a:avLst/>
          </a:prstGeom>
          <a:solidFill>
            <a:srgbClr val="0D7A8E"/>
          </a:solidFill>
          <a:ln>
            <a:noFill/>
          </a:ln>
        </p:spPr>
        <p:txBody>
          <a:bodyPr anchorCtr="0" anchor="ctr" bIns="119025" lIns="119025" spcFirstLastPara="1" rIns="119025" wrap="square" tIns="119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6750717" y="1258077"/>
            <a:ext cx="46428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93"/>
              <a:buFont typeface="Calibri"/>
              <a:buNone/>
            </a:pPr>
            <a:r>
              <a:rPr b="1" i="0" lang="en-US" sz="1693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Данные: CVRPLIB</a:t>
            </a:r>
            <a:endParaRPr b="0" i="0" sz="16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6750717" y="1793819"/>
            <a:ext cx="4642800" cy="16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46453" lvl="0" marL="446452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432"/>
              <a:buFont typeface="Calibri"/>
              <a:buChar char="•"/>
            </a:pPr>
            <a:r>
              <a:rPr b="0" i="0" lang="en-US" sz="1432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Все 45 инстансов наборов E, F, M, P; n от 12 до 199</a:t>
            </a:r>
            <a:endParaRPr b="0" i="0" sz="14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6453" lvl="0" marL="446452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432"/>
              <a:buFont typeface="Calibri"/>
              <a:buChar char="•"/>
            </a:pPr>
            <a:r>
              <a:rPr b="0" i="0" lang="en-US" sz="1432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E — Christofides &amp; Eilon, F — реальные данные Fisher,</a:t>
            </a:r>
            <a:endParaRPr b="0" i="0" sz="14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6453" lvl="0" marL="446452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432"/>
              <a:buFont typeface="Calibri"/>
              <a:buChar char="•"/>
            </a:pPr>
            <a:r>
              <a:rPr b="0" i="0" lang="en-US" sz="1432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M — крупные задачи, P — варьируемый размер парка</a:t>
            </a:r>
            <a:endParaRPr b="0" i="0" sz="14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6453" lvl="0" marL="446452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432"/>
              <a:buFont typeface="Calibri"/>
              <a:buChar char="•"/>
            </a:pPr>
            <a:r>
              <a:rPr b="0" i="0" lang="en-US" sz="1432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Метрика EUC_2D с округлением до целого + один EXPLICIT-инстанс</a:t>
            </a:r>
            <a:endParaRPr b="0" i="0" sz="14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500400" y="3817734"/>
            <a:ext cx="11191200" cy="1607100"/>
          </a:xfrm>
          <a:prstGeom prst="rect">
            <a:avLst/>
          </a:prstGeom>
          <a:solidFill>
            <a:srgbClr val="FFFFFF"/>
          </a:solidFill>
          <a:ln cap="flat" cmpd="sng" w="16525">
            <a:solidFill>
              <a:srgbClr val="D0DBE8"/>
            </a:solidFill>
            <a:prstDash val="solid"/>
            <a:round/>
            <a:headEnd len="sm" w="sm" type="none"/>
            <a:tailEnd len="sm" w="sm" type="none"/>
          </a:ln>
          <a:effectLst>
            <a:outerShdw blurRad="99211" rotWithShape="0" algn="bl" dir="8100000" dist="33070">
              <a:srgbClr val="000000">
                <a:alpha val="12160"/>
              </a:srgbClr>
            </a:outerShdw>
          </a:effectLst>
        </p:spPr>
        <p:txBody>
          <a:bodyPr anchorCtr="0" anchor="ctr" bIns="119025" lIns="119025" spcFirstLastPara="1" rIns="119025" wrap="square" tIns="119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500400" y="3817734"/>
            <a:ext cx="142800" cy="1607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119025" lIns="119025" spcFirstLastPara="1" rIns="119025" wrap="square" tIns="119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798034" y="3877261"/>
            <a:ext cx="105960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93"/>
              <a:buFont typeface="Calibri"/>
              <a:buNone/>
            </a:pPr>
            <a:r>
              <a:rPr b="1" i="0" lang="en-US" sz="1693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Контроль корректности метрики</a:t>
            </a:r>
            <a:endParaRPr b="0" i="0" sz="16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798034" y="4353476"/>
            <a:ext cx="10596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432"/>
              <a:buFont typeface="Calibri"/>
              <a:buNone/>
            </a:pPr>
            <a:r>
              <a:rPr b="0" i="0" lang="en-US" sz="1432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Стоимость эталонных решений .sol пересчитана нашей функцией расстояния и совпала с опубликованными оптимумами на всех 45 инстансах.</a:t>
            </a:r>
            <a:endParaRPr b="0" i="0" sz="14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432"/>
              <a:buFont typeface="Calibri"/>
              <a:buNone/>
            </a:pPr>
            <a:r>
              <a:rPr b="0" i="0" lang="en-US" sz="1432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Каждое выданное решение проходит строгую валидацию: покрытие всех клиентов, отсутствие повторов, соблюдение вместимости, сходимость кэшированной стоимости.</a:t>
            </a:r>
            <a:endParaRPr b="0" i="0" sz="14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500400" y="5603541"/>
            <a:ext cx="111912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500" lIns="119025" spcFirstLastPara="1" rIns="119025" wrap="square" tIns="59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A8E"/>
              </a:buClr>
              <a:buSzPts val="1562"/>
              <a:buFont typeface="Calibri"/>
              <a:buNone/>
            </a:pPr>
            <a:r>
              <a:rPr b="1" i="1" lang="en-US" sz="1562" u="none" cap="none" strike="noStrike">
                <a:solidFill>
                  <a:srgbClr val="0D7A8E"/>
                </a:solidFill>
                <a:latin typeface="Calibri"/>
                <a:ea typeface="Calibri"/>
                <a:cs typeface="Calibri"/>
                <a:sym typeface="Calibri"/>
              </a:rPr>
              <a:t>Итог: среднее отклонение от оптимума 0.16% при допустимых 10% — точный оптимум найден на 39 из 45 инстансов</a:t>
            </a:r>
            <a:endParaRPr b="0" i="0" sz="15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0" name="Google Shape;260;p23"/>
          <p:cNvSpPr txBox="1"/>
          <p:nvPr/>
        </p:nvSpPr>
        <p:spPr>
          <a:xfrm>
            <a:off x="435150" y="109975"/>
            <a:ext cx="90993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93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600">
                <a:solidFill>
                  <a:srgbClr val="0E2C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Алгоритм: ALNS + гранулярный локальный поиск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435150" y="1366650"/>
            <a:ext cx="5363400" cy="1549200"/>
          </a:xfrm>
          <a:prstGeom prst="rect">
            <a:avLst/>
          </a:prstGeom>
          <a:solidFill>
            <a:srgbClr val="FFFFFF"/>
          </a:solidFill>
          <a:ln cap="flat" cmpd="sng" w="16575">
            <a:solidFill>
              <a:srgbClr val="D0DBE8"/>
            </a:solidFill>
            <a:prstDash val="solid"/>
            <a:round/>
            <a:headEnd len="sm" w="sm" type="none"/>
            <a:tailEnd len="sm" w="sm" type="none"/>
          </a:ln>
          <a:effectLst>
            <a:outerShdw blurRad="99323" rotWithShape="0" algn="bl" dir="8100000" dist="33108">
              <a:srgbClr val="000000">
                <a:alpha val="12160"/>
              </a:srgbClr>
            </a:outerShdw>
          </a:effectLst>
        </p:spPr>
        <p:txBody>
          <a:bodyPr anchorCtr="0" anchor="ctr" bIns="119175" lIns="119175" spcFirstLastPara="1" rIns="119175" wrap="square" tIns="11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435150" y="1366650"/>
            <a:ext cx="655500" cy="1549200"/>
          </a:xfrm>
          <a:prstGeom prst="rect">
            <a:avLst/>
          </a:prstGeom>
          <a:solidFill>
            <a:srgbClr val="0D7A8E"/>
          </a:solidFill>
          <a:ln>
            <a:noFill/>
          </a:ln>
        </p:spPr>
        <p:txBody>
          <a:bodyPr anchorCtr="0" anchor="ctr" bIns="119175" lIns="119175" spcFirstLastPara="1" rIns="119175" wrap="square" tIns="11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435150" y="1366650"/>
            <a:ext cx="655500" cy="15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8"/>
              <a:buFont typeface="Calibri"/>
              <a:buNone/>
            </a:pPr>
            <a:r>
              <a:rPr b="1" i="0" lang="en-US" sz="286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86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1209870" y="1485838"/>
            <a:ext cx="446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8E"/>
              </a:buClr>
              <a:buSzPts val="1434"/>
              <a:buFont typeface="Calibri"/>
              <a:buNone/>
            </a:pPr>
            <a:r>
              <a:rPr b="1" i="0" lang="en-US" sz="1434" u="none" cap="none" strike="noStrike">
                <a:solidFill>
                  <a:srgbClr val="0D7A8E"/>
                </a:solidFill>
                <a:latin typeface="Calibri"/>
                <a:ea typeface="Calibri"/>
                <a:cs typeface="Calibri"/>
                <a:sym typeface="Calibri"/>
              </a:rPr>
              <a:t>Стартовое решение</a:t>
            </a:r>
            <a:endParaRPr b="0" i="0" sz="14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1209870" y="1902994"/>
            <a:ext cx="44694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238"/>
              <a:buFont typeface="Calibri"/>
              <a:buNone/>
            </a:pPr>
            <a:r>
              <a:rPr b="0" i="0" lang="en-US" sz="1238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Параллельный алгоритм сбережений Кларка — Райта; для разных сидов сбережения зашумляются, что даёт разные точки старта</a:t>
            </a:r>
            <a:endParaRPr b="0" i="0" sz="12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6156160" y="1366650"/>
            <a:ext cx="5363400" cy="1549200"/>
          </a:xfrm>
          <a:prstGeom prst="rect">
            <a:avLst/>
          </a:prstGeom>
          <a:solidFill>
            <a:srgbClr val="FFFFFF"/>
          </a:solidFill>
          <a:ln cap="flat" cmpd="sng" w="16575">
            <a:solidFill>
              <a:srgbClr val="D0DBE8"/>
            </a:solidFill>
            <a:prstDash val="solid"/>
            <a:round/>
            <a:headEnd len="sm" w="sm" type="none"/>
            <a:tailEnd len="sm" w="sm" type="none"/>
          </a:ln>
          <a:effectLst>
            <a:outerShdw blurRad="99323" rotWithShape="0" algn="bl" dir="8100000" dist="33108">
              <a:srgbClr val="000000">
                <a:alpha val="12160"/>
              </a:srgbClr>
            </a:outerShdw>
          </a:effectLst>
        </p:spPr>
        <p:txBody>
          <a:bodyPr anchorCtr="0" anchor="ctr" bIns="119175" lIns="119175" spcFirstLastPara="1" rIns="119175" wrap="square" tIns="11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6156160" y="1366650"/>
            <a:ext cx="655500" cy="1549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119175" lIns="119175" spcFirstLastPara="1" rIns="119175" wrap="square" tIns="11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6156160" y="1366650"/>
            <a:ext cx="655500" cy="15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8"/>
              <a:buFont typeface="Calibri"/>
              <a:buNone/>
            </a:pPr>
            <a:r>
              <a:rPr b="1" i="0" lang="en-US" sz="286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86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6930880" y="1485838"/>
            <a:ext cx="446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34"/>
              <a:buFont typeface="Calibri"/>
              <a:buNone/>
            </a:pPr>
            <a:r>
              <a:rPr b="1" i="0" lang="en-US" sz="1434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Разрушение</a:t>
            </a:r>
            <a:endParaRPr b="0" i="0" sz="14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6930880" y="1902994"/>
            <a:ext cx="44694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238"/>
              <a:buFont typeface="Calibri"/>
              <a:buNone/>
            </a:pPr>
            <a:r>
              <a:rPr b="0" i="0" lang="en-US" sz="1238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5 операторов: random, worst, Shaw (похожие клиенты), string (SISR-отрезки), route (расформирование слабо загруженных маршрутов)</a:t>
            </a:r>
            <a:endParaRPr b="0" i="0" sz="12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435150" y="3094870"/>
            <a:ext cx="5363400" cy="1549200"/>
          </a:xfrm>
          <a:prstGeom prst="rect">
            <a:avLst/>
          </a:prstGeom>
          <a:solidFill>
            <a:srgbClr val="FFFFFF"/>
          </a:solidFill>
          <a:ln cap="flat" cmpd="sng" w="16575">
            <a:solidFill>
              <a:srgbClr val="D0DBE8"/>
            </a:solidFill>
            <a:prstDash val="solid"/>
            <a:round/>
            <a:headEnd len="sm" w="sm" type="none"/>
            <a:tailEnd len="sm" w="sm" type="none"/>
          </a:ln>
          <a:effectLst>
            <a:outerShdw blurRad="99323" rotWithShape="0" algn="bl" dir="8100000" dist="33108">
              <a:srgbClr val="000000">
                <a:alpha val="12160"/>
              </a:srgbClr>
            </a:outerShdw>
          </a:effectLst>
        </p:spPr>
        <p:txBody>
          <a:bodyPr anchorCtr="0" anchor="ctr" bIns="119175" lIns="119175" spcFirstLastPara="1" rIns="119175" wrap="square" tIns="11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435150" y="3094870"/>
            <a:ext cx="655500" cy="1549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119175" lIns="119175" spcFirstLastPara="1" rIns="119175" wrap="square" tIns="11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435150" y="3094870"/>
            <a:ext cx="655500" cy="15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8"/>
              <a:buFont typeface="Calibri"/>
              <a:buNone/>
            </a:pPr>
            <a:r>
              <a:rPr b="1" i="0" lang="en-US" sz="286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86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1209870" y="3214057"/>
            <a:ext cx="446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434"/>
              <a:buFont typeface="Calibri"/>
              <a:buNone/>
            </a:pPr>
            <a:r>
              <a:rPr b="1" i="0" lang="en-US" sz="1434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Восстановление</a:t>
            </a:r>
            <a:endParaRPr b="0" i="0" sz="14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1209870" y="3631214"/>
            <a:ext cx="44694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238"/>
              <a:buFont typeface="Calibri"/>
              <a:buNone/>
            </a:pPr>
            <a:r>
              <a:rPr b="0" i="0" lang="en-US" sz="1238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Жадная вставка в 3 порядках обхода и regret-2; позиции ищутся только рядом с K ближайшими соседями, вставка с «морганием»</a:t>
            </a:r>
            <a:endParaRPr b="0" i="0" sz="12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6156160" y="3094870"/>
            <a:ext cx="5363400" cy="1549200"/>
          </a:xfrm>
          <a:prstGeom prst="rect">
            <a:avLst/>
          </a:prstGeom>
          <a:solidFill>
            <a:srgbClr val="FFFFFF"/>
          </a:solidFill>
          <a:ln cap="flat" cmpd="sng" w="16575">
            <a:solidFill>
              <a:srgbClr val="D0DBE8"/>
            </a:solidFill>
            <a:prstDash val="solid"/>
            <a:round/>
            <a:headEnd len="sm" w="sm" type="none"/>
            <a:tailEnd len="sm" w="sm" type="none"/>
          </a:ln>
          <a:effectLst>
            <a:outerShdw blurRad="99323" rotWithShape="0" algn="bl" dir="8100000" dist="33108">
              <a:srgbClr val="000000">
                <a:alpha val="12160"/>
              </a:srgbClr>
            </a:outerShdw>
          </a:effectLst>
        </p:spPr>
        <p:txBody>
          <a:bodyPr anchorCtr="0" anchor="ctr" bIns="119175" lIns="119175" spcFirstLastPara="1" rIns="119175" wrap="square" tIns="11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6156160" y="3094870"/>
            <a:ext cx="655500" cy="1549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119175" lIns="119175" spcFirstLastPara="1" rIns="119175" wrap="square" tIns="11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3"/>
          <p:cNvSpPr/>
          <p:nvPr/>
        </p:nvSpPr>
        <p:spPr>
          <a:xfrm>
            <a:off x="6156160" y="3094870"/>
            <a:ext cx="655500" cy="15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8"/>
              <a:buFont typeface="Calibri"/>
              <a:buNone/>
            </a:pPr>
            <a:r>
              <a:rPr b="1" i="0" lang="en-US" sz="286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86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6930880" y="3214057"/>
            <a:ext cx="446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434"/>
              <a:buFont typeface="Calibri"/>
              <a:buNone/>
            </a:pPr>
            <a:r>
              <a:rPr b="1" i="0" lang="en-US" sz="1434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Локальный поиск</a:t>
            </a:r>
            <a:endParaRPr b="0" i="0" sz="14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6930880" y="3631214"/>
            <a:ext cx="44694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238"/>
              <a:buFont typeface="Calibri"/>
              <a:buNone/>
            </a:pPr>
            <a:r>
              <a:rPr b="0" i="0" lang="en-US" sz="1238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relocate, swap, 2-opt, Or-opt (сегменты 2–3), межмаршрутный 2-opt*; обход по очереди «грязных» вершин, соседства ограничены K</a:t>
            </a:r>
            <a:endParaRPr b="0" i="0" sz="12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435150" y="4823089"/>
            <a:ext cx="5363400" cy="1549200"/>
          </a:xfrm>
          <a:prstGeom prst="rect">
            <a:avLst/>
          </a:prstGeom>
          <a:solidFill>
            <a:srgbClr val="FFFFFF"/>
          </a:solidFill>
          <a:ln cap="flat" cmpd="sng" w="16575">
            <a:solidFill>
              <a:srgbClr val="D0DBE8"/>
            </a:solidFill>
            <a:prstDash val="solid"/>
            <a:round/>
            <a:headEnd len="sm" w="sm" type="none"/>
            <a:tailEnd len="sm" w="sm" type="none"/>
          </a:ln>
          <a:effectLst>
            <a:outerShdw blurRad="99323" rotWithShape="0" algn="bl" dir="8100000" dist="33108">
              <a:srgbClr val="000000">
                <a:alpha val="12160"/>
              </a:srgbClr>
            </a:outerShdw>
          </a:effectLst>
        </p:spPr>
        <p:txBody>
          <a:bodyPr anchorCtr="0" anchor="ctr" bIns="119175" lIns="119175" spcFirstLastPara="1" rIns="119175" wrap="square" tIns="11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3"/>
          <p:cNvSpPr/>
          <p:nvPr/>
        </p:nvSpPr>
        <p:spPr>
          <a:xfrm>
            <a:off x="435150" y="4823089"/>
            <a:ext cx="655500" cy="1549200"/>
          </a:xfrm>
          <a:prstGeom prst="rect">
            <a:avLst/>
          </a:prstGeom>
          <a:solidFill>
            <a:srgbClr val="0D7A8E"/>
          </a:solidFill>
          <a:ln>
            <a:noFill/>
          </a:ln>
        </p:spPr>
        <p:txBody>
          <a:bodyPr anchorCtr="0" anchor="ctr" bIns="119175" lIns="119175" spcFirstLastPara="1" rIns="119175" wrap="square" tIns="11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3"/>
          <p:cNvSpPr/>
          <p:nvPr/>
        </p:nvSpPr>
        <p:spPr>
          <a:xfrm>
            <a:off x="435150" y="4823089"/>
            <a:ext cx="655500" cy="15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8"/>
              <a:buFont typeface="Calibri"/>
              <a:buNone/>
            </a:pPr>
            <a:r>
              <a:rPr b="1" i="0" lang="en-US" sz="286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86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1209870" y="4942277"/>
            <a:ext cx="446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8E"/>
              </a:buClr>
              <a:buSzPts val="1434"/>
              <a:buFont typeface="Calibri"/>
              <a:buNone/>
            </a:pPr>
            <a:r>
              <a:rPr b="1" i="0" lang="en-US" sz="1434" u="none" cap="none" strike="noStrike">
                <a:solidFill>
                  <a:srgbClr val="0D7A8E"/>
                </a:solidFill>
                <a:latin typeface="Calibri"/>
                <a:ea typeface="Calibri"/>
                <a:cs typeface="Calibri"/>
                <a:sym typeface="Calibri"/>
              </a:rPr>
              <a:t>Критерий приёма</a:t>
            </a:r>
            <a:endParaRPr b="0" i="0" sz="14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1209870" y="5359433"/>
            <a:ext cx="44694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238"/>
              <a:buFont typeface="Calibri"/>
              <a:buNone/>
            </a:pPr>
            <a:r>
              <a:rPr b="0" i="0" lang="en-US" sz="1238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Имитация отжига: стартовая температура по схеме Ропке — Писингера, охлаждение привязано к доле израсходованного бюджета</a:t>
            </a:r>
            <a:endParaRPr b="0" i="0" sz="12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6156160" y="4823089"/>
            <a:ext cx="5363400" cy="1549200"/>
          </a:xfrm>
          <a:prstGeom prst="rect">
            <a:avLst/>
          </a:prstGeom>
          <a:solidFill>
            <a:srgbClr val="FFFFFF"/>
          </a:solidFill>
          <a:ln cap="flat" cmpd="sng" w="16575">
            <a:solidFill>
              <a:srgbClr val="D0DBE8"/>
            </a:solidFill>
            <a:prstDash val="solid"/>
            <a:round/>
            <a:headEnd len="sm" w="sm" type="none"/>
            <a:tailEnd len="sm" w="sm" type="none"/>
          </a:ln>
          <a:effectLst>
            <a:outerShdw blurRad="99323" rotWithShape="0" algn="bl" dir="8100000" dist="33108">
              <a:srgbClr val="000000">
                <a:alpha val="12160"/>
              </a:srgbClr>
            </a:outerShdw>
          </a:effectLst>
        </p:spPr>
        <p:txBody>
          <a:bodyPr anchorCtr="0" anchor="ctr" bIns="119175" lIns="119175" spcFirstLastPara="1" rIns="119175" wrap="square" tIns="11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6156160" y="4823089"/>
            <a:ext cx="655500" cy="1549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119175" lIns="119175" spcFirstLastPara="1" rIns="119175" wrap="square" tIns="11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3"/>
          <p:cNvSpPr/>
          <p:nvPr/>
        </p:nvSpPr>
        <p:spPr>
          <a:xfrm>
            <a:off x="6156160" y="4823089"/>
            <a:ext cx="655500" cy="15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8"/>
              <a:buFont typeface="Calibri"/>
              <a:buNone/>
            </a:pPr>
            <a:r>
              <a:rPr b="1" i="0" lang="en-US" sz="286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86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6930880" y="4942277"/>
            <a:ext cx="446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34"/>
              <a:buFont typeface="Calibri"/>
              <a:buNone/>
            </a:pPr>
            <a:r>
              <a:rPr b="1" i="0" lang="en-US" sz="1434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Адаптация и остановка</a:t>
            </a:r>
            <a:endParaRPr b="0" i="0" sz="14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6930880" y="5359433"/>
            <a:ext cx="44694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238"/>
              <a:buFont typeface="Calibri"/>
              <a:buNone/>
            </a:pPr>
            <a:r>
              <a:rPr b="0" i="0" lang="en-US" sz="1238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Веса операторов пересчитываются раз в 100 итераций по их наградам; стоп — по стагнации рекорда либо по бюджету времени T(n)</a:t>
            </a:r>
            <a:endParaRPr b="0" i="0" sz="12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4" name="Google Shape;214;p21"/>
          <p:cNvSpPr txBox="1"/>
          <p:nvPr/>
        </p:nvSpPr>
        <p:spPr>
          <a:xfrm>
            <a:off x="435150" y="109975"/>
            <a:ext cx="90993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93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E2C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Подбор параметров и критерий остановки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435151" y="1461901"/>
            <a:ext cx="5292300" cy="1999500"/>
          </a:xfrm>
          <a:prstGeom prst="rect">
            <a:avLst/>
          </a:prstGeom>
          <a:solidFill>
            <a:srgbClr val="FFFFFF"/>
          </a:solidFill>
          <a:ln cap="flat" cmpd="sng" w="16325">
            <a:solidFill>
              <a:srgbClr val="D0DBE8"/>
            </a:solidFill>
            <a:prstDash val="solid"/>
            <a:round/>
            <a:headEnd len="sm" w="sm" type="none"/>
            <a:tailEnd len="sm" w="sm" type="none"/>
          </a:ln>
          <a:effectLst>
            <a:outerShdw blurRad="98007" rotWithShape="0" algn="bl" dir="8100000" dist="32669">
              <a:srgbClr val="000000">
                <a:alpha val="12160"/>
              </a:srgbClr>
            </a:outerShdw>
          </a:effectLst>
        </p:spPr>
        <p:txBody>
          <a:bodyPr anchorCtr="0" anchor="ctr" bIns="117600" lIns="117600" spcFirstLastPara="1" rIns="117600" wrap="square" tIns="117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435151" y="1461901"/>
            <a:ext cx="141300" cy="1999500"/>
          </a:xfrm>
          <a:prstGeom prst="rect">
            <a:avLst/>
          </a:prstGeom>
          <a:solidFill>
            <a:srgbClr val="0D7A8E"/>
          </a:solidFill>
          <a:ln>
            <a:noFill/>
          </a:ln>
        </p:spPr>
        <p:txBody>
          <a:bodyPr anchorCtr="0" anchor="ctr" bIns="117600" lIns="117600" spcFirstLastPara="1" rIns="117600" wrap="square" tIns="117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729172" y="1579509"/>
            <a:ext cx="482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8E"/>
              </a:buClr>
              <a:buSzPts val="1672"/>
              <a:buFont typeface="Calibri"/>
              <a:buNone/>
            </a:pPr>
            <a:r>
              <a:rPr b="1" i="0" lang="en-US" sz="1672" u="none" cap="none" strike="noStrike">
                <a:solidFill>
                  <a:srgbClr val="0D7A8E"/>
                </a:solidFill>
                <a:latin typeface="Calibri"/>
                <a:ea typeface="Calibri"/>
                <a:cs typeface="Calibri"/>
                <a:sym typeface="Calibri"/>
              </a:rPr>
              <a:t>Методика</a:t>
            </a:r>
            <a:endParaRPr b="0" i="0" sz="16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729172" y="2026420"/>
            <a:ext cx="48219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OFAT на отдельных 9 настроечных инстансах × 5 сидов, бюджет 10 с (900 прогонов). Сравнение парное — по одним и тем же парам «инстанс–сид», что снимает разброс между задачами.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6080351" y="1461901"/>
            <a:ext cx="5292300" cy="1999500"/>
          </a:xfrm>
          <a:prstGeom prst="rect">
            <a:avLst/>
          </a:prstGeom>
          <a:solidFill>
            <a:srgbClr val="FFFFFF"/>
          </a:solidFill>
          <a:ln cap="flat" cmpd="sng" w="16325">
            <a:solidFill>
              <a:srgbClr val="D0DBE8"/>
            </a:solidFill>
            <a:prstDash val="solid"/>
            <a:round/>
            <a:headEnd len="sm" w="sm" type="none"/>
            <a:tailEnd len="sm" w="sm" type="none"/>
          </a:ln>
          <a:effectLst>
            <a:outerShdw blurRad="98007" rotWithShape="0" algn="bl" dir="8100000" dist="32669">
              <a:srgbClr val="000000">
                <a:alpha val="12160"/>
              </a:srgbClr>
            </a:outerShdw>
          </a:effectLst>
        </p:spPr>
        <p:txBody>
          <a:bodyPr anchorCtr="0" anchor="ctr" bIns="117600" lIns="117600" spcFirstLastPara="1" rIns="117600" wrap="square" tIns="117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6080351" y="1461901"/>
            <a:ext cx="141300" cy="1999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117600" lIns="117600" spcFirstLastPara="1" rIns="117600" wrap="square" tIns="117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6374372" y="1579509"/>
            <a:ext cx="482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72"/>
              <a:buFont typeface="Calibri"/>
              <a:buNone/>
            </a:pPr>
            <a:r>
              <a:rPr b="1" i="0" lang="en-US" sz="1672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Значимы только два фактора</a:t>
            </a:r>
            <a:endParaRPr b="0" i="0" sz="16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6374372" y="2026420"/>
            <a:ext cx="48219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Отказ от отжига (T = 0) даёт +0.14 п.п., разрушение до 70% клиентов +0.10 п.п. К размеру соседства K, адаптации весов и «морганию» алгоритм устойчив: эффекты в пределах 1σ.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435151" y="3696457"/>
            <a:ext cx="5292300" cy="1999500"/>
          </a:xfrm>
          <a:prstGeom prst="rect">
            <a:avLst/>
          </a:prstGeom>
          <a:solidFill>
            <a:srgbClr val="FFFFFF"/>
          </a:solidFill>
          <a:ln cap="flat" cmpd="sng" w="16325">
            <a:solidFill>
              <a:srgbClr val="D0DBE8"/>
            </a:solidFill>
            <a:prstDash val="solid"/>
            <a:round/>
            <a:headEnd len="sm" w="sm" type="none"/>
            <a:tailEnd len="sm" w="sm" type="none"/>
          </a:ln>
          <a:effectLst>
            <a:outerShdw blurRad="98007" rotWithShape="0" algn="bl" dir="8100000" dist="32669">
              <a:srgbClr val="000000">
                <a:alpha val="12160"/>
              </a:srgbClr>
            </a:outerShdw>
          </a:effectLst>
        </p:spPr>
        <p:txBody>
          <a:bodyPr anchorCtr="0" anchor="ctr" bIns="117600" lIns="117600" spcFirstLastPara="1" rIns="117600" wrap="square" tIns="117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435151" y="3696457"/>
            <a:ext cx="141300" cy="1999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117600" lIns="117600" spcFirstLastPara="1" rIns="117600" wrap="square" tIns="117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729172" y="3814065"/>
            <a:ext cx="482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843"/>
              </a:buClr>
              <a:buSzPts val="1672"/>
              <a:buFont typeface="Calibri"/>
              <a:buNone/>
            </a:pPr>
            <a:r>
              <a:rPr b="1" i="0" lang="en-US" sz="1672" u="none" cap="none" strike="noStrike">
                <a:solidFill>
                  <a:srgbClr val="D4A843"/>
                </a:solidFill>
                <a:latin typeface="Calibri"/>
                <a:ea typeface="Calibri"/>
                <a:cs typeface="Calibri"/>
                <a:sym typeface="Calibri"/>
              </a:rPr>
              <a:t>Контрольный прогон</a:t>
            </a:r>
            <a:endParaRPr b="0" i="0" sz="16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729172" y="4260976"/>
            <a:ext cx="48219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Объединение всех «лучших» значений OFAT оказалось хуже базовой на +0.09 ± 0.03 п.п. — параметры взаимодействуют. Итог: K = 20, удаление 10–40%, T₀ = 3% стоимости, λ = 0.3, blink = 0.01.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729172" y="5107755"/>
            <a:ext cx="4704300" cy="3762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txBody>
          <a:bodyPr anchorCtr="0" anchor="ctr" bIns="117600" lIns="117600" spcFirstLastPara="1" rIns="117600" wrap="square" tIns="117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787976" y="5131277"/>
            <a:ext cx="4586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B"/>
              </a:buClr>
              <a:buSzPts val="1158"/>
              <a:buFont typeface="Calibri"/>
              <a:buNone/>
            </a:pPr>
            <a:r>
              <a:rPr b="0" i="1" lang="en-US" sz="1158" u="none" cap="none" strike="noStrike">
                <a:solidFill>
                  <a:srgbClr val="6B7C9B"/>
                </a:solidFill>
                <a:latin typeface="Calibri"/>
                <a:ea typeface="Calibri"/>
                <a:cs typeface="Calibri"/>
                <a:sym typeface="Calibri"/>
              </a:rPr>
              <a:t>OFAT-победители не складываются — нужна проверка комбинации</a:t>
            </a:r>
            <a:endParaRPr b="0" i="0" sz="11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6080351" y="3696457"/>
            <a:ext cx="5292300" cy="1999500"/>
          </a:xfrm>
          <a:prstGeom prst="rect">
            <a:avLst/>
          </a:prstGeom>
          <a:solidFill>
            <a:srgbClr val="FFFFFF"/>
          </a:solidFill>
          <a:ln cap="flat" cmpd="sng" w="16325">
            <a:solidFill>
              <a:srgbClr val="D0DBE8"/>
            </a:solidFill>
            <a:prstDash val="solid"/>
            <a:round/>
            <a:headEnd len="sm" w="sm" type="none"/>
            <a:tailEnd len="sm" w="sm" type="none"/>
          </a:ln>
          <a:effectLst>
            <a:outerShdw blurRad="98007" rotWithShape="0" algn="bl" dir="8100000" dist="32669">
              <a:srgbClr val="000000">
                <a:alpha val="12160"/>
              </a:srgbClr>
            </a:outerShdw>
          </a:effectLst>
        </p:spPr>
        <p:txBody>
          <a:bodyPr anchorCtr="0" anchor="ctr" bIns="117600" lIns="117600" spcFirstLastPara="1" rIns="117600" wrap="square" tIns="117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6080351" y="3696457"/>
            <a:ext cx="141300" cy="1999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117600" lIns="117600" spcFirstLastPara="1" rIns="117600" wrap="square" tIns="117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6374372" y="3814065"/>
            <a:ext cx="482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72"/>
              <a:buFont typeface="Calibri"/>
              <a:buNone/>
            </a:pPr>
            <a:r>
              <a:rPr b="1" i="0" lang="en-US" sz="1672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Критерий остановки</a:t>
            </a:r>
            <a:endParaRPr b="0" i="0" sz="16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6374372" y="4260976"/>
            <a:ext cx="48219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Первое из двух: 30 000 итераций без нового рекорда либо бюджет T(n) = clip(0.3·n, 15, 90) с. Кривая «качество — время» насыщается после ~10 с; малые инстансы стопятся по стагнации за секунды.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6374372" y="5107755"/>
            <a:ext cx="4704300" cy="3762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txBody>
          <a:bodyPr anchorCtr="0" anchor="ctr" bIns="117600" lIns="117600" spcFirstLastPara="1" rIns="117600" wrap="square" tIns="117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6433176" y="5131277"/>
            <a:ext cx="4586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9B"/>
              </a:buClr>
              <a:buSzPts val="1158"/>
              <a:buFont typeface="Calibri"/>
              <a:buNone/>
            </a:pPr>
            <a:r>
              <a:rPr b="0" i="1" lang="en-US" sz="1158" u="none" cap="none" strike="noStrike">
                <a:solidFill>
                  <a:srgbClr val="6B7C9B"/>
                </a:solidFill>
                <a:latin typeface="Calibri"/>
                <a:ea typeface="Calibri"/>
                <a:cs typeface="Calibri"/>
                <a:sym typeface="Calibri"/>
              </a:rPr>
              <a:t>Стагнация как основной критерий, время — как страховка</a:t>
            </a:r>
            <a:endParaRPr b="0" i="0" sz="11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4" name="Google Shape;214;p21"/>
          <p:cNvSpPr txBox="1"/>
          <p:nvPr/>
        </p:nvSpPr>
        <p:spPr>
          <a:xfrm>
            <a:off x="435150" y="109975"/>
            <a:ext cx="90993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93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E2C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Результаты: отклонение по типам задач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5" name="Picture 214" descr="result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1051560"/>
            <a:ext cx="10607040" cy="37532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4" name="Google Shape;214;p21"/>
          <p:cNvSpPr txBox="1"/>
          <p:nvPr/>
        </p:nvSpPr>
        <p:spPr>
          <a:xfrm>
            <a:off x="435150" y="109975"/>
            <a:ext cx="90993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93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E2C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Зависимость качества и скорости от размерности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5" name="Picture 214" descr="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1051560"/>
            <a:ext cx="10607040" cy="34268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5" name="Google Shape;85;p17"/>
          <p:cNvSpPr txBox="1"/>
          <p:nvPr/>
        </p:nvSpPr>
        <p:spPr>
          <a:xfrm>
            <a:off x="500400" y="128864"/>
            <a:ext cx="109074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93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600">
                <a:solidFill>
                  <a:srgbClr val="0E2C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Выводы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500400" y="1198550"/>
            <a:ext cx="5238300" cy="2381100"/>
          </a:xfrm>
          <a:prstGeom prst="rect">
            <a:avLst/>
          </a:prstGeom>
          <a:solidFill>
            <a:srgbClr val="FFFFFF"/>
          </a:solidFill>
          <a:ln cap="flat" cmpd="sng" w="16525">
            <a:solidFill>
              <a:srgbClr val="D0DBE8"/>
            </a:solidFill>
            <a:prstDash val="solid"/>
            <a:round/>
            <a:headEnd len="sm" w="sm" type="none"/>
            <a:tailEnd len="sm" w="sm" type="none"/>
          </a:ln>
          <a:effectLst>
            <a:outerShdw blurRad="99211" rotWithShape="0" algn="bl" dir="8100000" dist="33070">
              <a:srgbClr val="000000">
                <a:alpha val="12160"/>
              </a:srgbClr>
            </a:outerShdw>
          </a:effectLst>
        </p:spPr>
        <p:txBody>
          <a:bodyPr anchorCtr="0" anchor="ctr" bIns="119025" lIns="119025" spcFirstLastPara="1" rIns="119025" wrap="square" tIns="119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500400" y="1198550"/>
            <a:ext cx="142800" cy="2381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119025" lIns="119025" spcFirstLastPara="1" rIns="119025" wrap="square" tIns="119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798034" y="1258077"/>
            <a:ext cx="46428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93"/>
              <a:buFont typeface="Calibri"/>
              <a:buNone/>
            </a:pPr>
            <a:r>
              <a:rPr b="1" i="0" lang="en-US" sz="1693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Качество</a:t>
            </a:r>
            <a:endParaRPr b="0" i="0" sz="16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798034" y="1793819"/>
            <a:ext cx="4642800" cy="16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46453" lvl="0" marL="446452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432"/>
              <a:buFont typeface="Calibri"/>
              <a:buChar char="•"/>
            </a:pPr>
            <a:r>
              <a:rPr b="0" i="0" lang="en-US" sz="1432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Среднее отклонение 0.16% — втрое с запасом внутри порога 10%</a:t>
            </a:r>
            <a:endParaRPr b="0" i="0" sz="14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6453" lvl="0" marL="446452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432"/>
              <a:buFont typeface="Calibri"/>
              <a:buChar char="•"/>
            </a:pPr>
            <a:r>
              <a:rPr b="0" i="0" lang="en-US" sz="1432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Лучший из 5 запусков: 0.06%</a:t>
            </a:r>
            <a:endParaRPr b="0" i="0" sz="14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6453" lvl="0" marL="446452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432"/>
              <a:buFont typeface="Calibri"/>
              <a:buChar char="•"/>
            </a:pPr>
            <a:r>
              <a:rPr b="0" i="0" lang="en-US" sz="1432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Оптимум найден точно на 39 из 45 инстансов</a:t>
            </a:r>
            <a:endParaRPr b="0" i="0" sz="14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6453" lvl="0" marL="446452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432"/>
              <a:buFont typeface="Calibri"/>
              <a:buChar char="•"/>
            </a:pPr>
            <a:r>
              <a:rPr b="0" i="0" lang="en-US" sz="1432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Худший инстанс — M-n200-k16 (3.06%)</a:t>
            </a:r>
            <a:endParaRPr b="0" i="0" sz="14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6453083" y="1198550"/>
            <a:ext cx="5238300" cy="2381100"/>
          </a:xfrm>
          <a:prstGeom prst="rect">
            <a:avLst/>
          </a:prstGeom>
          <a:solidFill>
            <a:srgbClr val="FFFFFF"/>
          </a:solidFill>
          <a:ln cap="flat" cmpd="sng" w="16525">
            <a:solidFill>
              <a:srgbClr val="D0DBE8"/>
            </a:solidFill>
            <a:prstDash val="solid"/>
            <a:round/>
            <a:headEnd len="sm" w="sm" type="none"/>
            <a:tailEnd len="sm" w="sm" type="none"/>
          </a:ln>
          <a:effectLst>
            <a:outerShdw blurRad="99211" rotWithShape="0" algn="bl" dir="8100000" dist="33070">
              <a:srgbClr val="000000">
                <a:alpha val="12160"/>
              </a:srgbClr>
            </a:outerShdw>
          </a:effectLst>
        </p:spPr>
        <p:txBody>
          <a:bodyPr anchorCtr="0" anchor="ctr" bIns="119025" lIns="119025" spcFirstLastPara="1" rIns="119025" wrap="square" tIns="119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6453083" y="1198550"/>
            <a:ext cx="142800" cy="2381100"/>
          </a:xfrm>
          <a:prstGeom prst="rect">
            <a:avLst/>
          </a:prstGeom>
          <a:solidFill>
            <a:srgbClr val="0D7A8E"/>
          </a:solidFill>
          <a:ln>
            <a:noFill/>
          </a:ln>
        </p:spPr>
        <p:txBody>
          <a:bodyPr anchorCtr="0" anchor="ctr" bIns="119025" lIns="119025" spcFirstLastPara="1" rIns="119025" wrap="square" tIns="119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6750717" y="1258077"/>
            <a:ext cx="46428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93"/>
              <a:buFont typeface="Calibri"/>
              <a:buNone/>
            </a:pPr>
            <a:r>
              <a:rPr b="1" i="0" lang="en-US" sz="1693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Зависимость от типа и размера</a:t>
            </a:r>
            <a:endParaRPr b="0" i="0" sz="16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6750717" y="1793819"/>
            <a:ext cx="4642800" cy="16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46453" lvl="0" marL="446452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432"/>
              <a:buFont typeface="Calibri"/>
              <a:buChar char="•"/>
            </a:pPr>
            <a:r>
              <a:rPr b="0" i="0" lang="en-US" sz="1432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E, F, P решаются практически точно при любом n</a:t>
            </a:r>
            <a:endParaRPr b="0" i="0" sz="14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6453" lvl="0" marL="446452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432"/>
              <a:buFont typeface="Calibri"/>
              <a:buChar char="•"/>
            </a:pPr>
            <a:r>
              <a:rPr b="0" i="0" lang="en-US" sz="1432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Набор M — единственный проблемный: плотная упаковка (запас вместимости &lt;1%)</a:t>
            </a:r>
            <a:endParaRPr b="0" i="0" sz="14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6453" lvl="0" marL="446452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432"/>
              <a:buFont typeface="Calibri"/>
              <a:buChar char="•"/>
            </a:pPr>
            <a:r>
              <a:rPr b="0" i="0" lang="en-US" sz="1432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Отклонение растёт с n, время до рекорда — быстрее, чем линейно</a:t>
            </a:r>
            <a:endParaRPr b="0" i="0" sz="14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6453" lvl="0" marL="446452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432"/>
              <a:buFont typeface="Calibri"/>
              <a:buChar char="•"/>
            </a:pPr>
            <a:r>
              <a:rPr b="0" i="0" lang="en-US" sz="1432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Скорость: число итераций в секунду падает примерно как n^-1</a:t>
            </a:r>
            <a:endParaRPr b="0" i="0" sz="14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500400" y="3817734"/>
            <a:ext cx="11191200" cy="1607100"/>
          </a:xfrm>
          <a:prstGeom prst="rect">
            <a:avLst/>
          </a:prstGeom>
          <a:solidFill>
            <a:srgbClr val="FFFFFF"/>
          </a:solidFill>
          <a:ln cap="flat" cmpd="sng" w="16525">
            <a:solidFill>
              <a:srgbClr val="D0DBE8"/>
            </a:solidFill>
            <a:prstDash val="solid"/>
            <a:round/>
            <a:headEnd len="sm" w="sm" type="none"/>
            <a:tailEnd len="sm" w="sm" type="none"/>
          </a:ln>
          <a:effectLst>
            <a:outerShdw blurRad="99211" rotWithShape="0" algn="bl" dir="8100000" dist="33070">
              <a:srgbClr val="000000">
                <a:alpha val="12160"/>
              </a:srgbClr>
            </a:outerShdw>
          </a:effectLst>
        </p:spPr>
        <p:txBody>
          <a:bodyPr anchorCtr="0" anchor="ctr" bIns="119025" lIns="119025" spcFirstLastPara="1" rIns="119025" wrap="square" tIns="119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500400" y="3817734"/>
            <a:ext cx="142800" cy="1607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 anchorCtr="0" anchor="ctr" bIns="119025" lIns="119025" spcFirstLastPara="1" rIns="119025" wrap="square" tIns="119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798034" y="3877261"/>
            <a:ext cx="105960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93"/>
              <a:buFont typeface="Calibri"/>
              <a:buNone/>
            </a:pPr>
            <a:r>
              <a:rPr b="1" i="0" lang="en-US" sz="1693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Что определило результат</a:t>
            </a:r>
            <a:endParaRPr b="0" i="0" sz="16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798034" y="4353476"/>
            <a:ext cx="10596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B40"/>
              </a:buClr>
              <a:buSzPts val="1432"/>
              <a:buFont typeface="Calibri"/>
              <a:buNone/>
            </a:pPr>
            <a:r>
              <a:rPr b="0" i="0" lang="en-US" sz="1432" u="none" cap="none" strike="noStrike">
                <a:solidFill>
                  <a:srgbClr val="1E2B40"/>
                </a:solidFill>
                <a:latin typeface="Calibri"/>
                <a:ea typeface="Calibri"/>
                <a:cs typeface="Calibri"/>
                <a:sym typeface="Calibri"/>
              </a:rPr>
              <a:t>Гранулярность (K ближайших соседей) в локальном поиске и во вставке — без неё на n ≈ 200 не хватило бы итераций; отжиг вместо чистого спуска; оператор расформирования маршрутов, позволяющий сократить число машин.</a:t>
            </a:r>
            <a:endParaRPr b="0" i="0" sz="14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500400" y="5603541"/>
            <a:ext cx="111912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500" lIns="119025" spcFirstLastPara="1" rIns="119025" wrap="square" tIns="59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A8E"/>
              </a:buClr>
              <a:buSzPts val="1562"/>
              <a:buFont typeface="Calibri"/>
              <a:buNone/>
            </a:pPr>
            <a:r>
              <a:rPr b="1" i="1" lang="en-US" sz="1562" u="none" cap="none" strike="noStrike">
                <a:solidFill>
                  <a:srgbClr val="0D7A8E"/>
                </a:solidFill>
                <a:latin typeface="Calibri"/>
                <a:ea typeface="Calibri"/>
                <a:cs typeface="Calibri"/>
                <a:sym typeface="Calibri"/>
              </a:rPr>
              <a:t>Репозиторий с кодом и результатами: https://github.com/Minhojkhon-Babaev/metaheuristics-cvrp</a:t>
            </a:r>
            <a:endParaRPr b="0" i="0" sz="156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